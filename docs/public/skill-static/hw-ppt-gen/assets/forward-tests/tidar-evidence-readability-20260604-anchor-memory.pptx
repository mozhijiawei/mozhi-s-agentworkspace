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91695" cy="246888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56232"/>
            <a:ext cx="10607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技术路线评估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2761488"/>
            <a:ext cx="9875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MTP 内置drafter路线的 diffusion 并行草稿评估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7680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推理系统 / 模型服务负责人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4498848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沿着MTP“内置drafter”方向继续走，但把AR未来预测换成diffusion并行草稿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9596" y="0"/>
          <a:ext cx="2726436" cy="292608"/>
        </p:xfrm>
        <a:graphic>
          <a:graphicData uri="http://schemas.openxmlformats.org/drawingml/2006/table">
            <a:tbl>
              <a:tblPr/>
              <a:tblGrid>
                <a:gridCol w="865632"/>
                <a:gridCol w="995172"/>
                <a:gridCol w="8656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结构与收益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959596" y="0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59596" y="292608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959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2522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2040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平均接收长度达7.45/8.25 token，转化为1.5B/8B的4.71x/5.91x加速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同一模型内diffusion并行draft，AR负责sampling并重叠下一批预草稿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落地边界：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需50B/150B继续训练，收益受小batch、H100 kernel和KV cache实现约束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" y="2093976"/>
            <a:ext cx="3621024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" y="2144268"/>
            <a:ext cx="332841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收益证据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2404872"/>
            <a:ext cx="3621024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514600"/>
            <a:ext cx="3383280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1" name="Image 0" descr="C:\Users\37274\.codex\worktrees\0268\hw-ppt-gen\forward-tests\huawei-ppt-gen\tidar-evidence-readability\candidate\input\pdf_xml\final\images\pictur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32888"/>
            <a:ext cx="3383280" cy="16459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89458" y="4310888"/>
            <a:ext cx="997306" cy="979424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5178" y="4356608"/>
            <a:ext cx="905866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7.45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35178" y="4752848"/>
            <a:ext cx="905866" cy="491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 T/NFE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814779" y="4310888"/>
            <a:ext cx="997306" cy="979424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860499" y="4356608"/>
            <a:ext cx="905866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860499" y="4752848"/>
            <a:ext cx="905866" cy="491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8B T/NFE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940101" y="4310888"/>
            <a:ext cx="997306" cy="979424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985821" y="4356608"/>
            <a:ext cx="905866" cy="27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4.71x/5.91x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985821" y="4651248"/>
            <a:ext cx="905866" cy="273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21792" y="5422392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T/NFE 是平均推进长度，tokens/s 加速只按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batch=1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实测表达。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224528" y="2093976"/>
            <a:ext cx="3742944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370832" y="2144268"/>
            <a:ext cx="34503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机制定位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224528" y="2404872"/>
            <a:ext cx="3742944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43400" y="2514600"/>
            <a:ext cx="3505200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36" name="Image 1" descr="C:\Users\37274\.codex\worktrees\0268\hw-ppt-gen\forward-tests\huawei-ppt-gen\tidar-evidence-readability\candidate\input\pdf_xml\final\images\picture_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532888"/>
            <a:ext cx="3504895" cy="1713737"/>
          </a:xfrm>
          <a:prstGeom prst="rect">
            <a:avLst/>
          </a:prstGeom>
        </p:spPr>
      </p:pic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24248" y="4462272"/>
          <a:ext cx="2743200" cy="1248156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282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本步职责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54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sampling / rejection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接受前缀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08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Diffusion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one-step pre-draft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下一批proposal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8" name="Shape 32"/>
          <p:cNvSpPr/>
          <p:nvPr/>
        </p:nvSpPr>
        <p:spPr>
          <a:xfrm>
            <a:off x="8068056" y="2093976"/>
            <a:ext cx="3617976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214360" y="2144268"/>
            <a:ext cx="33253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落地边界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8068056" y="2404872"/>
            <a:ext cx="3617976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186928" y="2514600"/>
            <a:ext cx="3380232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8459572" y="2459736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569300" y="25694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8880196" y="2532888"/>
            <a:ext cx="22677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50B/150B继续训练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9876892" y="2880360"/>
            <a:ext cx="0" cy="36576"/>
          </a:xfrm>
          <a:prstGeom prst="line">
            <a:avLst/>
          </a:prstGeom>
          <a:noFill/>
          <a:ln w="63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6" name="Shape 40"/>
          <p:cNvSpPr/>
          <p:nvPr/>
        </p:nvSpPr>
        <p:spPr>
          <a:xfrm>
            <a:off x="8459572" y="2935224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8569300" y="304495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8880196" y="3008376"/>
            <a:ext cx="22677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H100 batch=1复现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9876892" y="3355848"/>
            <a:ext cx="0" cy="36576"/>
          </a:xfrm>
          <a:prstGeom prst="line">
            <a:avLst/>
          </a:prstGeom>
          <a:noFill/>
          <a:ln w="63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0" name="Shape 44"/>
          <p:cNvSpPr/>
          <p:nvPr/>
        </p:nvSpPr>
        <p:spPr>
          <a:xfrm>
            <a:off x="8459572" y="3410712"/>
            <a:ext cx="2834640" cy="402336"/>
          </a:xfrm>
          <a:prstGeom prst="rect">
            <a:avLst/>
          </a:prstGeom>
          <a:solidFill>
            <a:srgbClr val="FFF1E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569300" y="35204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8880196" y="3483864"/>
            <a:ext cx="22677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kernel/KV/serving改造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9876892" y="3831336"/>
            <a:ext cx="0" cy="3657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48"/>
          <p:cNvSpPr/>
          <p:nvPr/>
        </p:nvSpPr>
        <p:spPr>
          <a:xfrm>
            <a:off x="8459572" y="3886200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8569300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8880196" y="3959352"/>
            <a:ext cx="22677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再投入8B级验证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8186623" y="4325112"/>
            <a:ext cx="3380537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training-free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插件，先按继续预训练预算评估。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8186623" y="4934712"/>
            <a:ext cx="3380537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先验证接收长度、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tokens/s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conversion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与质量损失。</a:t>
            </a:r>
            <a:endParaRPr lang="en-US" sz="1200" dirty="0"/>
          </a:p>
        </p:txBody>
      </p:sp>
      <p:sp>
        <p:nvSpPr>
          <p:cNvPr id="59" name="Text 53"/>
          <p:cNvSpPr/>
          <p:nvPr/>
        </p:nvSpPr>
        <p:spPr>
          <a:xfrm>
            <a:off x="8186623" y="5544312"/>
            <a:ext cx="3380537" cy="518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kernel、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eviction、request scheduling 均需改造评审。</a:t>
            </a:r>
            <a:endParaRPr lang="en-US" sz="1200" dirty="0"/>
          </a:p>
        </p:txBody>
      </p:sp>
      <p:sp>
        <p:nvSpPr>
          <p:cNvPr id="60" name="Shape 5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62" name="Text 56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26187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6245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81328" y="120700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路线定位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81328" y="167335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 TiDAR 放在 MTP / speculative decoding / diffusion LLM 的坐标系里，判断它到底新在哪里。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35915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45973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0428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结构与收益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81328" y="277063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TiDAR 如何用 diffusion 并行草稿 + AR sampling，把平均接收长度转化为 tokens/s 加速。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45643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5701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34015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落地边界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81328" y="386791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评估训练成本、硬件/kernel 依赖、质量损失和适用场景，给出是否复现的决策口径。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MTP参照系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TiDAR延续内置drafter路线，但把AR未来预测替换为diffusion并行草稿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9596" y="0"/>
          <a:ext cx="2726436" cy="292608"/>
        </p:xfrm>
        <a:graphic>
          <a:graphicData uri="http://schemas.openxmlformats.org/drawingml/2006/table">
            <a:tbl>
              <a:tblPr/>
              <a:tblGrid>
                <a:gridCol w="865632"/>
                <a:gridCol w="995172"/>
                <a:gridCol w="8656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结构与收益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959596" y="0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3" name="Shape 2"/>
          <p:cNvSpPr/>
          <p:nvPr/>
        </p:nvSpPr>
        <p:spPr>
          <a:xfrm>
            <a:off x="8959596" y="292608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959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2522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2040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都用主模型能力提高draft质量，突破小模型drafter接受率瓶颈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差异点：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MTP预测未来token，TiDAR预草稿下一批并同步验证上一批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0" name="Image 0" descr="C:\Users\37274\.codex\worktrees\0268\hw-ppt-gen\forward-tests\huawei-ppt-gen\tidar-evidence-readability\candidate\input\supplemental_images\deepseek_v3_mtp_figur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32888"/>
            <a:ext cx="5271516" cy="277977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1792" y="542239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共同动机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主模型表征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 draft，提高可接受长度。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1792" y="5769864"/>
            <a:ext cx="52715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参照价值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MTP 是理解 TiDAR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drafter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的桥。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6772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3076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差异点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176772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95644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514082" y="2436876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23810" y="254660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7934706" y="2510028"/>
            <a:ext cx="22677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MTP: AR未来预测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931402" y="2857500"/>
            <a:ext cx="0" cy="36576"/>
          </a:xfrm>
          <a:prstGeom prst="line">
            <a:avLst/>
          </a:prstGeom>
          <a:noFill/>
          <a:ln w="63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7514082" y="2912364"/>
            <a:ext cx="2834640" cy="402336"/>
          </a:xfrm>
          <a:prstGeom prst="rect">
            <a:avLst/>
          </a:prstGeom>
          <a:solidFill>
            <a:srgbClr val="FFF1E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623810" y="30220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934706" y="2985516"/>
            <a:ext cx="22677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TiDAR: diffusion并行草稿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931402" y="3332988"/>
            <a:ext cx="0" cy="3657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7514082" y="3387852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623810" y="34975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934706" y="3461004"/>
            <a:ext cx="22677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推理路径纳入mask/KV</a:t>
            </a:r>
            <a:endParaRPr lang="en-US" sz="1000" dirty="0"/>
          </a:p>
        </p:txBody>
      </p:sp>
      <p:graphicFrame>
        <p:nvGraphicFramePr>
          <p:cNvPr id="4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2662" y="3803904"/>
          <a:ext cx="3057479" cy="1283818"/>
        </p:xfrm>
        <a:graphic>
          <a:graphicData uri="http://schemas.openxmlformats.org/drawingml/2006/table">
            <a:tbl>
              <a:tblPr/>
              <a:tblGrid>
                <a:gridCol w="1019160"/>
                <a:gridCol w="1019160"/>
                <a:gridCol w="1019160"/>
              </a:tblGrid>
              <a:tr h="312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未来token方式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282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AR逐深度预测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辅助未来目标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2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TiDAR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diffusion并行proposal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mask/KV进入线上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9" name="Text 34"/>
          <p:cNvSpPr/>
          <p:nvPr/>
        </p:nvSpPr>
        <p:spPr>
          <a:xfrm>
            <a:off x="6295644" y="5696712"/>
            <a:ext cx="527151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是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新结构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推理路径，不按训练辅助目标估算。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不是普通投机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TiDAR把draft和sampling融入单模型单forward，代价是新结构训练和serving适配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9596" y="0"/>
          <a:ext cx="2726436" cy="292608"/>
        </p:xfrm>
        <a:graphic>
          <a:graphicData uri="http://schemas.openxmlformats.org/drawingml/2006/table">
            <a:tbl>
              <a:tblPr/>
              <a:tblGrid>
                <a:gridCol w="865632"/>
                <a:gridCol w="995172"/>
                <a:gridCol w="8656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结构与收益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959596" y="0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59596" y="292608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3" name="Shape 3"/>
          <p:cNvSpPr/>
          <p:nvPr/>
        </p:nvSpPr>
        <p:spPr>
          <a:xfrm>
            <a:off x="895959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2522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2040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对比投机：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传统小模型draft串行发生，TiDAR用同一模型并行draft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对比扩散：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纯diffusion并行易损质量，TiDAR由AR sampling把关最终token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对比投机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0" name="Image 0" descr="C:\Users\37274\.codex\worktrees\0268\hw-ppt-gen\forward-tests\huawei-ppt-gen\tidar-evidence-readability\candidate\input\supplemental_images\speculative_decoding_draft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32888"/>
            <a:ext cx="5271516" cy="277977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1792" y="5422392"/>
            <a:ext cx="5271516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流程差异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draft-then-verify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串行发生，接受率受小模型质量限制。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1792" y="6031992"/>
            <a:ext cx="5271516" cy="45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TiDAR判断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不是外接插件，而是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单模型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内置草稿。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6772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3076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对比扩散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176772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95644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7" name="Image 1" descr="C:\Users\37274\.codex\worktrees\0268\hw-ppt-gen\forward-tests\huawei-ppt-gen\tidar-evidence-readability\candidate\input\pdf_xml\final\images\picture_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532888"/>
            <a:ext cx="5271516" cy="22311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95644" y="4873752"/>
            <a:ext cx="5271516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质量约束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diffusion 给并行度，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sampling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rejection 负责把关最终 token。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95644" y="5483352"/>
            <a:ext cx="5271516" cy="57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结构代价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mask、KV cache 和 proposal selection 进入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线上路径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算法与结构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TiDAR用三段token组织和混合attention mask，在单forward内并行完成验证与预草稿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9596" y="0"/>
          <a:ext cx="2726436" cy="292608"/>
        </p:xfrm>
        <a:graphic>
          <a:graphicData uri="http://schemas.openxmlformats.org/drawingml/2006/table">
            <a:tbl>
              <a:tblPr/>
              <a:tblGrid>
                <a:gridCol w="865632"/>
                <a:gridCol w="995172"/>
                <a:gridCol w="8656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结构与收益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959596" y="0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59596" y="292608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959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3" name="Shape 4"/>
          <p:cNvSpPr/>
          <p:nvPr/>
        </p:nvSpPr>
        <p:spPr>
          <a:xfrm>
            <a:off x="982522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2040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 rejection sampling验证上一批draft，diffusion one-step drafting生成下一批proposal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prefix causal、draft causal、mask block bidirectional，并配套KV保留与驱逐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093976"/>
            <a:ext cx="560070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" y="2144268"/>
            <a:ext cx="530809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404872"/>
            <a:ext cx="560070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2514600"/>
            <a:ext cx="536295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0" name="Image 0" descr="C:\Users\37274\.codex\worktrees\0268\hw-ppt-gen\forward-tests\huawei-ppt-gen\tidar-evidence-readability\candidate\input\pdf_xml\final\images\pictur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32888"/>
            <a:ext cx="5362956" cy="2505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1792" y="5148072"/>
            <a:ext cx="5362956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三段组织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prefix、previous draft、next pre-draft 在单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内协同。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1792" y="5757672"/>
            <a:ext cx="5362956" cy="30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并行入口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所有可能 prefix outcome 可选择对应下一批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6772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3076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176772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95644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7" name="Image 1" descr="C:\Users\37274\.codex\worktrees\0268\hw-ppt-gen\forward-tests\huawei-ppt-gen\tidar-evidence-readability\candidate\input\pdf_xml\final\images\picture_0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532888"/>
            <a:ext cx="5271516" cy="232123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95644" y="5148072"/>
            <a:ext cx="5271516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mask结构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clean tokens causal，mask tokens block 内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bidirectional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95644" y="5757672"/>
            <a:ext cx="5271516" cy="30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缓存条件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causal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，被拒绝 token 的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再 eviction。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收益表现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- 1.5B/8B平均接收长度7.45/8.25 token，最终转化为4.71x/5.91x tokens/s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9596" y="0"/>
          <a:ext cx="2726436" cy="292608"/>
        </p:xfrm>
        <a:graphic>
          <a:graphicData uri="http://schemas.openxmlformats.org/drawingml/2006/table">
            <a:tbl>
              <a:tblPr/>
              <a:tblGrid>
                <a:gridCol w="865632"/>
                <a:gridCol w="995172"/>
                <a:gridCol w="8656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结构与收益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959596" y="0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59596" y="292608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959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2522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0" name="Shape 5"/>
          <p:cNvSpPr/>
          <p:nvPr/>
        </p:nvSpPr>
        <p:spPr>
          <a:xfrm>
            <a:off x="1082040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代码和数学任务约5.07-10.13 T/NFE，任务间收益差异明显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1.5B接近无损，8B生成小损但仍优于Dream/LLaDA/Block Diffusion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093976"/>
            <a:ext cx="5008402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" y="2144268"/>
            <a:ext cx="4715794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404872"/>
            <a:ext cx="5008402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2514600"/>
            <a:ext cx="4770658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0" name="Image 0" descr="C:\Users\37274\.codex\worktrees\0268\hw-ppt-gen\forward-tests\huawei-ppt-gen\tidar-evidence-readability\candidate\input\pdf_xml\final\images\pictur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32888"/>
            <a:ext cx="4770425" cy="250545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13612" y="5198364"/>
            <a:ext cx="1243584" cy="813816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59332" y="5244084"/>
            <a:ext cx="1152144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4.71x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059332" y="5640324"/>
            <a:ext cx="1152144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1.5B吞吐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385212" y="5198364"/>
            <a:ext cx="1243584" cy="813816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430932" y="5244084"/>
            <a:ext cx="1152144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5.91x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2430932" y="5640324"/>
            <a:ext cx="1152144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8B吞吐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756812" y="5198364"/>
            <a:ext cx="1243584" cy="813816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02532" y="5244084"/>
            <a:ext cx="1152144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7-8 token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3802532" y="5640324"/>
            <a:ext cx="1152144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平均推进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675914" y="2093976"/>
            <a:ext cx="6010118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22218" y="2144268"/>
            <a:ext cx="571751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675914" y="2404872"/>
            <a:ext cx="6010118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794786" y="2514600"/>
            <a:ext cx="5772374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34" name="Image 1" descr="C:\Users\37274\.codex\worktrees\0268\hw-ppt-gen\forward-tests\huawei-ppt-gen\tidar-evidence-readability\candidate\input\pdf_xml\final\images\table_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53" y="2532888"/>
            <a:ext cx="5772607" cy="277977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794553" y="5422392"/>
            <a:ext cx="5772607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质量边界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 平均更高；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8B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生成小幅低于 Qwen3。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794553" y="5769864"/>
            <a:ext cx="5772607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表述口径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competitive quality with large speedup，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不写全面无损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场景边界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收益主要在batch=1低延迟评测成立，最大接收长度10.13 token且任务差异明显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9596" y="0"/>
          <a:ext cx="2726436" cy="292608"/>
        </p:xfrm>
        <a:graphic>
          <a:graphicData uri="http://schemas.openxmlformats.org/drawingml/2006/table">
            <a:tbl>
              <a:tblPr/>
              <a:tblGrid>
                <a:gridCol w="865632"/>
                <a:gridCol w="995172"/>
                <a:gridCol w="8656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结构与收益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959596" y="0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59596" y="292608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959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2522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2040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7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batch边界：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论文主测batch=1，称可调draft length适配大batch但未给线上曲线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领域差异：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GSM8K为5.07/7.07 T/NFE，较MBPP+的9.43/10.13低46%/30%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batch边界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0" name="Image 0" descr="C:\Users\37274\.codex\worktrees\0268\hw-ppt-gen\forward-tests\huawei-ppt-gen\tidar-evidence-readability\candidate\input\pdf_xml\final\images\picture_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470" y="2532888"/>
            <a:ext cx="4144160" cy="2505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1792" y="514807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主场景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论文效率 benchmark 是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size=1。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1792" y="5495544"/>
            <a:ext cx="527151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外推边界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未给大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在线 tokens/s 曲线或 request scheduling 结果。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6772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3076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领域差异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176772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95644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7" name="Image 1" descr="C:\Users\37274\.codex\worktrees\0268\hw-ppt-gen\forward-tests\huawei-ppt-gen\tidar-evidence-readability\candidate\input\pdf_xml\final\images\table_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532888"/>
            <a:ext cx="5271516" cy="223113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221474" y="4930140"/>
            <a:ext cx="1645920" cy="1075944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267194" y="4975860"/>
            <a:ext cx="1554480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46%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7267194" y="5372100"/>
            <a:ext cx="1554480" cy="588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 GSM8K低于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MBPP+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995410" y="4930140"/>
            <a:ext cx="1645920" cy="1075944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041130" y="4975860"/>
            <a:ext cx="1554480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9041130" y="5372100"/>
            <a:ext cx="1554480" cy="588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8B GSM8K低于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MBPP+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训练成本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TiDAR需基于AR模型继续预训练50B/150B tokens，不能按training-free插件估算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9596" y="0"/>
          <a:ext cx="2726436" cy="292608"/>
        </p:xfrm>
        <a:graphic>
          <a:graphicData uri="http://schemas.openxmlformats.org/drawingml/2006/table">
            <a:tbl>
              <a:tblPr/>
              <a:tblGrid>
                <a:gridCol w="865632"/>
                <a:gridCol w="995172"/>
                <a:gridCol w="8656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结构与收益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落地边界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959596" y="0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59596" y="292608"/>
            <a:ext cx="27264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9596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2522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2040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8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明确成本：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1.5B约25k steps，8B约75k steps，H100训练但未披露卡数和GPU-hours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结构成本：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训练需append mask tokens，长上下文效率和serving kernel仍需工程验证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明确成本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0" name="Image 0" descr="C:\Users\37274\.codex\worktrees\0268\hw-ppt-gen\forward-tests\huawei-ppt-gen\tidar-evidence-readability\candidate\input\pdf_xml\final\images\picture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32888"/>
            <a:ext cx="5271516" cy="227685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85368" y="4986867"/>
            <a:ext cx="1090079" cy="1008211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31088" y="5032587"/>
            <a:ext cx="998639" cy="27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50B tokens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31088" y="5327227"/>
            <a:ext cx="998639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1.5B训练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103463" y="4986867"/>
            <a:ext cx="1090079" cy="1008211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149183" y="5032587"/>
            <a:ext cx="998639" cy="276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150B tokens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149183" y="5327227"/>
            <a:ext cx="998639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8B训练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321558" y="4986867"/>
            <a:ext cx="1090079" cy="1008211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67278" y="5032587"/>
            <a:ext cx="998639" cy="31021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 tokens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7278" y="5361093"/>
            <a:ext cx="998639" cy="588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539653" y="4986867"/>
            <a:ext cx="1090079" cy="1008211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85373" y="5032587"/>
            <a:ext cx="998639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25k/75k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4585373" y="5428827"/>
            <a:ext cx="998639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steps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176772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323076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结构成本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176772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95644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717365" y="3304032"/>
            <a:ext cx="956142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863669" y="342290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900245" y="3450336"/>
            <a:ext cx="590382" cy="432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训练预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7710084" y="3630168"/>
            <a:ext cx="128016" cy="0"/>
          </a:xfrm>
          <a:prstGeom prst="line">
            <a:avLst/>
          </a:prstGeom>
          <a:noFill/>
          <a:ln w="63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7874676" y="3304032"/>
            <a:ext cx="956142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020980" y="342290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8057556" y="3450336"/>
            <a:ext cx="590382" cy="432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文扩展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8867394" y="3630168"/>
            <a:ext cx="128016" cy="0"/>
          </a:xfrm>
          <a:prstGeom prst="line">
            <a:avLst/>
          </a:prstGeom>
          <a:noFill/>
          <a:ln w="63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5" name="Shape 41"/>
          <p:cNvSpPr/>
          <p:nvPr/>
        </p:nvSpPr>
        <p:spPr>
          <a:xfrm>
            <a:off x="9031986" y="3304032"/>
            <a:ext cx="956142" cy="652272"/>
          </a:xfrm>
          <a:prstGeom prst="rect">
            <a:avLst/>
          </a:prstGeom>
          <a:solidFill>
            <a:srgbClr val="FFF1E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178290" y="342290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9214866" y="3450336"/>
            <a:ext cx="590382" cy="432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10024704" y="3630168"/>
            <a:ext cx="12801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10189296" y="3304032"/>
            <a:ext cx="956142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0335600" y="342290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10372176" y="3450336"/>
            <a:ext cx="590382" cy="432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KV与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6295644" y="487375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预算边界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未披露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卡数、GPU-hours、语料组成和训练吞吐。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6295644" y="5221224"/>
            <a:ext cx="5271516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工程边界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 Attention、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eviction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、request scheduling 影响真实收益。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6295644" y="5830824"/>
            <a:ext cx="5271516" cy="231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决策建议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1.5B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小规模复现，再判断 8B 级投入。</a:t>
            </a:r>
            <a:endParaRPr lang="en-US" sz="1200" dirty="0"/>
          </a:p>
        </p:txBody>
      </p:sp>
      <p:sp>
        <p:nvSpPr>
          <p:cNvPr id="55" name="Shape 5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TiDAR paper package, DeepSeek-V3 technical report, speculative decoding reference diagram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Huawei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TiDAR 技术路线评估</dc:title>
  <dc:subject>Huawei-style business presentation</dc:subject>
  <dc:creator>Huawei PPTX Generator</dc:creator>
  <cp:lastModifiedBy>Huawei PPTX Generator</cp:lastModifiedBy>
  <cp:revision>1</cp:revision>
  <dcterms:created xsi:type="dcterms:W3CDTF">2026-06-04T13:00:06Z</dcterms:created>
  <dcterms:modified xsi:type="dcterms:W3CDTF">2026-06-04T13:00:06Z</dcterms:modified>
</cp:coreProperties>
</file>