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91695" cy="246888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56232"/>
            <a:ext cx="10607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面向模型市场并发 LLM 服务的 GPU Pooling 价值评估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2761488"/>
            <a:ext cx="9875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面向模型市场长尾与突发并发，以 token-level scaling 将生产 GPU 需求降低 82%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7680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平台/云服务技术负责人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4498848"/>
            <a:ext cx="2743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2026.05.18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GPU Pooling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面向模型市场长尾与突发并发，以 token-level scaling 将生产 GPU 需求降低 82%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0668" y="0"/>
          <a:ext cx="4055364" cy="292608"/>
        </p:xfrm>
        <a:graphic>
          <a:graphicData uri="http://schemas.openxmlformats.org/drawingml/2006/table">
            <a:tbl>
              <a:tblPr/>
              <a:tblGrid>
                <a:gridCol w="1383792"/>
                <a:gridCol w="1417320"/>
                <a:gridCol w="125425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浪费来自市场形态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突破在 token 粒度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价值由生产验证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30668" y="0"/>
            <a:ext cx="405536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0668" y="292608"/>
            <a:ext cx="4055364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0668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01446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31780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686032" y="0"/>
            <a:ext cx="0" cy="292608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914400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92224" y="1197864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94.1% 长尾模型仅贡献 1.35% 请求，却占用 17.7% GPU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92224" y="1399032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粒度抢占换模，绕开 request-level HOL blocking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92224" y="1600200"/>
            <a:ext cx="968349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1,192 个 H20 降至 213 个，70 小时未观察到 SLO violation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" y="2093976"/>
            <a:ext cx="3800856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" y="2144268"/>
            <a:ext cx="3508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场景：长尾与突发共存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2404872"/>
            <a:ext cx="3800856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514600"/>
            <a:ext cx="3563112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1" name="Image 0" descr="C:\Users\37274\.codex\worktrees\0268\hw-ppt-gen\.tmp\forward-tests\aegaeon-content-aware-layout\candidate-20260604-anchor-memory-aegaeon\images\figure01a_long_tail_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32888"/>
            <a:ext cx="3563417" cy="2505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1792" y="5148072"/>
            <a:ext cx="3563417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长尾错配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94.1%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模型仅贡献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1.35%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请求。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1792" y="5495544"/>
            <a:ext cx="3563417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成本定性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17.7%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GPU 被低频模型固定占用。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1792" y="5843016"/>
            <a:ext cx="3563417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峰值压力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 270B burst 需在正文页展开。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376928" y="2093976"/>
            <a:ext cx="3617976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23232" y="2144268"/>
            <a:ext cx="332536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机制：token 间隙换模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376928" y="2404872"/>
            <a:ext cx="3617976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95800" y="2514600"/>
            <a:ext cx="3380232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9" name="Image 1" descr="C:\Users\37274\.codex\worktrees\0268\hw-ppt-gen\.tmp\forward-tests\aegaeon-content-aware-layout\candidate-20260604-anchor-memory-aegaeon\images\figure02_request_to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105" y="2532888"/>
            <a:ext cx="3380537" cy="16824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496105" y="4325112"/>
            <a:ext cx="3380537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机制变化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抢占点从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前移到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间隙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496105" y="4934712"/>
            <a:ext cx="3380537" cy="5882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阻塞缓解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新模型不再只等待旧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完整释放。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496105" y="5544312"/>
            <a:ext cx="3380537" cy="518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工程前提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换模路径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必须短到可覆盖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-level 频率。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068056" y="2093976"/>
            <a:ext cx="3617976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214360" y="2144268"/>
            <a:ext cx="332536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结果：生产 GPU 需求下降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8068056" y="2404872"/>
            <a:ext cx="3617976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186928" y="2514600"/>
            <a:ext cx="3380232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8331" y="2532888"/>
            <a:ext cx="2337122" cy="22311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186623" y="4873752"/>
            <a:ext cx="3380537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部署信号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H20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GPU 从 1,192 降至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213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186623" y="5221224"/>
            <a:ext cx="3380537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资源收益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论文部署口径节省 82%。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8186623" y="5568696"/>
            <a:ext cx="3380537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为观测结果，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不外推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为绝对保证。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parsed source package（fresh run, 2026-05-18 14:57）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26187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6245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81328" y="120700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浪费来自市场形态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81328" y="167335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GPU 浪费来自模型市场的长尾与突发并发，而不是单模型 serving 性能不足。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35915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45973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30428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突破在 token 粒度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81328" y="277063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Aegaeon 用 token-level preemptive scaling 绕开 request-level pooling 的 active-model 上限。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456432"/>
            <a:ext cx="457200" cy="4572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57016"/>
            <a:ext cx="402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34015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价值由生产验证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81328" y="3867912"/>
            <a:ext cx="8961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证明该机制不只提升实验指标，也在 Alibaba Cloud Model Studio 形成 GPU 节省和稳定服务结果。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parsed source package（fresh run, 2026-05-18 14:57）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市场型浪费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长尾模型只贡献 1.35% 请求却占 17.7% GPU，热门模型 burst 又推高冗余预留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长尾错配：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94.1% 模型低频调用，专属预留放大闲置成本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突发冗余：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 270B 模型请求峰值会超过 reserved capacity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长尾错配：低频调用锁定固定 GPU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13" name="Image 0" descr="C:\Users\37274\.codex\worktrees\0268\hw-ppt-gen\.tmp\forward-tests\aegaeon-content-aware-layout\candidate-20260604-anchor-memory-aegaeon\images\figure01a_long_tail_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59" y="2532888"/>
            <a:ext cx="4282582" cy="2505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21792" y="5148072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资源错配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94.1% 模型仅贡献 1.35% 请求。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" y="5495544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成本压力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长尾仍占用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17.7%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GPU 能力。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" y="5843016"/>
            <a:ext cx="527151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优化入口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跨模型共享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比单模型吞吐更关键。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12764" y="2093976"/>
            <a:ext cx="5573268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59068" y="2144268"/>
            <a:ext cx="52806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突发冗余：热门模型峰值抬高预留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12764" y="2404872"/>
            <a:ext cx="5573268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1636" y="2514600"/>
            <a:ext cx="5335524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1" name="Image 1" descr="C:\Users\37274\.codex\worktrees\0268\hw-ppt-gen\.tmp\forward-tests\aegaeon-content-aware-layout\candidate-20260604-anchor-memory-aegaeon\images\figure01_work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2532888"/>
            <a:ext cx="5335524" cy="238366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31636" y="5148072"/>
            <a:ext cx="5335524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峰值压力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model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burst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超过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reserved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31636" y="5495544"/>
            <a:ext cx="5335524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预留代价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平台用冗余 GPU 换 SLO 安全垫。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31636" y="5843016"/>
            <a:ext cx="5335524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该判断限定在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模型市场型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并发场景。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parsed source package（fresh run, 2026-05-18 14:57）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Request-Level 上限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- 3.7 req/s 已让 100 个模型平均 46.55 个 active，pooling 仍被压在 &lt;3 models/GPU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request 服务时间长，低频调用也会形成大量 active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新模型需等待旧 request 结束，HOL blocking 转化为 SLO 风险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根因：长服务时间制造 active ceiling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13" name="Image 0" descr="C:\Users\37274\.codex\worktrees\0268\hw-ppt-gen\.tmp\forward-tests\aegaeon-content-aware-layout\candidate-20260604-anchor-memory-aegaeon\images\figure04_active_model_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98" y="2532888"/>
            <a:ext cx="4669305" cy="18242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264158" y="4483303"/>
            <a:ext cx="1243584" cy="813816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09878" y="4529023"/>
            <a:ext cx="1152144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09878" y="4925263"/>
            <a:ext cx="1152144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635758" y="4483303"/>
            <a:ext cx="1243584" cy="813816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81478" y="4529023"/>
            <a:ext cx="1152144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 req/s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681478" y="4925263"/>
            <a:ext cx="1152144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总到达率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07358" y="4483303"/>
            <a:ext cx="1243584" cy="813816"/>
          </a:xfrm>
          <a:prstGeom prst="rect">
            <a:avLst/>
          </a:prstGeom>
          <a:solidFill>
            <a:srgbClr val="FFF1E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3078" y="4529023"/>
            <a:ext cx="1152144" cy="377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46.55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053078" y="4925263"/>
            <a:ext cx="1152144" cy="326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均值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1792" y="5422392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上限定性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 未结束就不能释放模型状态。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1792" y="5769864"/>
            <a:ext cx="52715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共享空间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100/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46.55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仍低于 3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models/GPU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76772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23076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后果：HOL blocking 转化为 SLO 风险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176772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5644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9" name="Image 1" descr="C:\Users\37274\.codex\worktrees\0268\hw-ppt-gen\.tmp\forward-tests\aegaeon-content-aware-layout\candidate-20260604-anchor-memory-aegaeon\images\figure02_request_to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532888"/>
            <a:ext cx="5271516" cy="250545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295644" y="5148072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阻塞机制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等待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 request 完成。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295644" y="5495544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 风险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等待直接压到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295644" y="5843016"/>
            <a:ext cx="527151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转折判断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不能只在 request 边界做 scale。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parsed source package（fresh run, 2026-05-18 14:57）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Token-Level 破局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Aegaeon 在 token 间隙抢占换模，用 prefill/decoding 分治调度降低 SLO 违约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 优先 TTFT，decoding 用 weighted round-robin 控制 TBT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 reuse、显式内存和 KV 同步将开销降至 0.8s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调度：TTFT/TBT 分治 token job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13" name="Image 0" descr="C:\Users\37274\.codex\worktrees\0268\hw-ppt-gen\.tmp\forward-tests\aegaeon-content-aware-layout\candidate-20260604-anchor-memory-aegaeon\images\figure02_request_t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42" y="2532888"/>
            <a:ext cx="4888216" cy="22311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21792" y="4873752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机制变化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在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之间切换模型。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" y="5221224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 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 TTFT，使用 grouped FCFS。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" y="5568696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Decoding 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 TBT，使用 weighted round-robin。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1792" y="5916168"/>
            <a:ext cx="527151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目标边界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attainment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，不只追求平均吞吐。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6772" y="2093976"/>
            <a:ext cx="5509260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23076" y="2144268"/>
            <a:ext cx="5216652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换模：阻塞路径压到 0.8s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6772" y="2404872"/>
            <a:ext cx="5509260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5644" y="2514600"/>
            <a:ext cx="5271516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2" name="Image 1" descr="C:\Users\37274\.codex\worktrees\0268\hw-ppt-gen\.tmp\forward-tests\aegaeon-content-aware-layout\candidate-20260604-anchor-memory-aegaeon\images\figure07_overhead_bars_comple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479" y="2532888"/>
            <a:ext cx="4959845" cy="2505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295644" y="5148072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开销收敛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初始化相关路径从约 26.9s 降至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0.8s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95644" y="5495544"/>
            <a:ext cx="5271516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reuse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避免重复初始化。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95644" y="5843016"/>
            <a:ext cx="527151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调度和短换模路径必须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同时成立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parsed source package（fresh run, 2026-05-18 14:57）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生产级收益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 Model Studio beta 部署 47 个模型，H20 GPU 从 1,192 降至 213，节省 82%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11183112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33856"/>
            <a:ext cx="969264" cy="73152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07008"/>
            <a:ext cx="859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分析总结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81912" y="1133856"/>
            <a:ext cx="10104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92224" y="1197864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支撑 2-2.5x arrival rate 或 1.5-9x goodput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92224" y="1453896"/>
            <a:ext cx="96834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生产：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小时利用率升至 48.1%，未观察到 SLO violation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093976"/>
            <a:ext cx="6757416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144268"/>
            <a:ext cx="646480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实验：高到达率下保持 SLO attainment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404872"/>
            <a:ext cx="6757416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14600"/>
            <a:ext cx="6519672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9822" y="2532888"/>
            <a:ext cx="5463611" cy="2505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21792" y="5148072"/>
            <a:ext cx="6519672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实验判断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arrival rate 达到 2-2.5x 区间。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" y="5495544"/>
            <a:ext cx="6519672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goodput 报告为 1.5-9x more。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" y="5843016"/>
            <a:ext cx="651967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适用边界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strict/normal/loose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会改变可承受共享强度。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33488" y="2093976"/>
            <a:ext cx="4352544" cy="329184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79792" y="2144268"/>
            <a:ext cx="40599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生产：GPU 需求下降且未观察到 violation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33488" y="2404872"/>
            <a:ext cx="4352544" cy="3785616"/>
          </a:xfrm>
          <a:prstGeom prst="rect">
            <a:avLst/>
          </a:prstGeom>
          <a:solidFill>
            <a:srgbClr val="F7F7F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2514600"/>
            <a:ext cx="4114800" cy="3602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7515" y="2532888"/>
            <a:ext cx="3324489" cy="2505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52360" y="5148072"/>
            <a:ext cx="4114800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生产信号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小时利用率升至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48.1%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452360" y="5495544"/>
            <a:ext cx="4114800" cy="326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风险口径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未观察到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SLO violation，不写成全局保证。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452360" y="5843016"/>
            <a:ext cx="41148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决策建议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优先在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模型市场型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服务评估。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6565392"/>
            <a:ext cx="85953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Aegaeon parsed source package（fresh run, 2026-05-18 14:57）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201400" y="6565392"/>
            <a:ext cx="5029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Huawei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Aegaeon 面向模型市场并发 LLM 服务的 GPU Pooling 价值评估</dc:title>
  <dc:subject>Aegaeon GPU Pooling value assessment</dc:subject>
  <dc:creator>Huawei PPTX Generator</dc:creator>
  <cp:lastModifiedBy>Huawei PPTX Generator</cp:lastModifiedBy>
  <cp:revision>1</cp:revision>
  <dcterms:created xsi:type="dcterms:W3CDTF">2026-06-04T13:02:11Z</dcterms:created>
  <dcterms:modified xsi:type="dcterms:W3CDTF">2026-06-04T13:02:11Z</dcterms:modified>
</cp:coreProperties>
</file>